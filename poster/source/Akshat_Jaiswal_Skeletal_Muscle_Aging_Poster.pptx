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43895963" cy="32921575"/>
  <p:notesSz cx="6858000" cy="9144000"/>
  <p:defaultTextStyle>
    <a:defPPr>
      <a:defRPr lang="en-US"/>
    </a:defPPr>
    <a:lvl1pPr marL="0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12638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25275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37913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50551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563188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275826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4988463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701101" algn="l" defTabSz="1425275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" d="100"/>
          <a:sy n="10" d="100"/>
        </p:scale>
        <p:origin x="-2491" y="-816"/>
      </p:cViewPr>
      <p:guideLst>
        <p:guide orient="horz" pos="10369"/>
        <p:guide pos="1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98" y="10227040"/>
            <a:ext cx="37311569" cy="70568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395" y="18655559"/>
            <a:ext cx="30727174" cy="841329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12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25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37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50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563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275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988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011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28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6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479" y="21155171"/>
            <a:ext cx="37311569" cy="6538593"/>
          </a:xfrm>
        </p:spPr>
        <p:txBody>
          <a:bodyPr anchor="t"/>
          <a:lstStyle>
            <a:lvl1pPr algn="l">
              <a:defRPr sz="62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479" y="13953569"/>
            <a:ext cx="37311569" cy="7201593"/>
          </a:xfrm>
        </p:spPr>
        <p:txBody>
          <a:bodyPr anchor="b"/>
          <a:lstStyle>
            <a:lvl1pPr marL="0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1pPr>
            <a:lvl2pPr marL="712638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425275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13791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5055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56318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275826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4988463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701101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126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799" y="7681701"/>
            <a:ext cx="19387383" cy="21726719"/>
          </a:xfrm>
        </p:spPr>
        <p:txBody>
          <a:bodyPr/>
          <a:lstStyle>
            <a:lvl1pPr>
              <a:defRPr sz="4400"/>
            </a:lvl1pPr>
            <a:lvl2pPr>
              <a:defRPr sz="37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3782" y="7681701"/>
            <a:ext cx="19387383" cy="21726719"/>
          </a:xfrm>
        </p:spPr>
        <p:txBody>
          <a:bodyPr/>
          <a:lstStyle>
            <a:lvl1pPr>
              <a:defRPr sz="4400"/>
            </a:lvl1pPr>
            <a:lvl2pPr>
              <a:defRPr sz="3700"/>
            </a:lvl2pPr>
            <a:lvl3pPr>
              <a:defRPr sz="31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46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798" y="7369263"/>
            <a:ext cx="19395007" cy="3071154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712638" indent="0">
              <a:buNone/>
              <a:defRPr sz="3100" b="1"/>
            </a:lvl2pPr>
            <a:lvl3pPr marL="1425275" indent="0">
              <a:buNone/>
              <a:defRPr sz="2800" b="1"/>
            </a:lvl3pPr>
            <a:lvl4pPr marL="2137913" indent="0">
              <a:buNone/>
              <a:defRPr sz="2500" b="1"/>
            </a:lvl4pPr>
            <a:lvl5pPr marL="2850551" indent="0">
              <a:buNone/>
              <a:defRPr sz="2500" b="1"/>
            </a:lvl5pPr>
            <a:lvl6pPr marL="3563188" indent="0">
              <a:buNone/>
              <a:defRPr sz="2500" b="1"/>
            </a:lvl6pPr>
            <a:lvl7pPr marL="4275826" indent="0">
              <a:buNone/>
              <a:defRPr sz="2500" b="1"/>
            </a:lvl7pPr>
            <a:lvl8pPr marL="4988463" indent="0">
              <a:buNone/>
              <a:defRPr sz="2500" b="1"/>
            </a:lvl8pPr>
            <a:lvl9pPr marL="5701101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798" y="10440408"/>
            <a:ext cx="19395007" cy="18968012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8547" y="7369263"/>
            <a:ext cx="19402625" cy="3071154"/>
          </a:xfrm>
        </p:spPr>
        <p:txBody>
          <a:bodyPr anchor="b"/>
          <a:lstStyle>
            <a:lvl1pPr marL="0" indent="0">
              <a:buNone/>
              <a:defRPr sz="3700" b="1"/>
            </a:lvl1pPr>
            <a:lvl2pPr marL="712638" indent="0">
              <a:buNone/>
              <a:defRPr sz="3100" b="1"/>
            </a:lvl2pPr>
            <a:lvl3pPr marL="1425275" indent="0">
              <a:buNone/>
              <a:defRPr sz="2800" b="1"/>
            </a:lvl3pPr>
            <a:lvl4pPr marL="2137913" indent="0">
              <a:buNone/>
              <a:defRPr sz="2500" b="1"/>
            </a:lvl4pPr>
            <a:lvl5pPr marL="2850551" indent="0">
              <a:buNone/>
              <a:defRPr sz="2500" b="1"/>
            </a:lvl5pPr>
            <a:lvl6pPr marL="3563188" indent="0">
              <a:buNone/>
              <a:defRPr sz="2500" b="1"/>
            </a:lvl6pPr>
            <a:lvl7pPr marL="4275826" indent="0">
              <a:buNone/>
              <a:defRPr sz="2500" b="1"/>
            </a:lvl7pPr>
            <a:lvl8pPr marL="4988463" indent="0">
              <a:buNone/>
              <a:defRPr sz="2500" b="1"/>
            </a:lvl8pPr>
            <a:lvl9pPr marL="5701101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8547" y="10440408"/>
            <a:ext cx="19402625" cy="18968012"/>
          </a:xfrm>
        </p:spPr>
        <p:txBody>
          <a:bodyPr/>
          <a:lstStyle>
            <a:lvl1pPr>
              <a:defRPr sz="3700"/>
            </a:lvl1pPr>
            <a:lvl2pPr>
              <a:defRPr sz="31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8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2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5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05" y="1310777"/>
            <a:ext cx="14441470" cy="5578378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2102" y="1310768"/>
            <a:ext cx="24539063" cy="28097651"/>
          </a:xfrm>
        </p:spPr>
        <p:txBody>
          <a:bodyPr/>
          <a:lstStyle>
            <a:lvl1pPr>
              <a:defRPr sz="5000"/>
            </a:lvl1pPr>
            <a:lvl2pPr>
              <a:defRPr sz="4400"/>
            </a:lvl2pPr>
            <a:lvl3pPr>
              <a:defRPr sz="37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05" y="6889155"/>
            <a:ext cx="14441470" cy="22519273"/>
          </a:xfrm>
        </p:spPr>
        <p:txBody>
          <a:bodyPr/>
          <a:lstStyle>
            <a:lvl1pPr marL="0" indent="0">
              <a:buNone/>
              <a:defRPr sz="2200"/>
            </a:lvl1pPr>
            <a:lvl2pPr marL="712638" indent="0">
              <a:buNone/>
              <a:defRPr sz="1900"/>
            </a:lvl2pPr>
            <a:lvl3pPr marL="1425275" indent="0">
              <a:buNone/>
              <a:defRPr sz="1600"/>
            </a:lvl3pPr>
            <a:lvl4pPr marL="2137913" indent="0">
              <a:buNone/>
              <a:defRPr sz="1400"/>
            </a:lvl4pPr>
            <a:lvl5pPr marL="2850551" indent="0">
              <a:buNone/>
              <a:defRPr sz="1400"/>
            </a:lvl5pPr>
            <a:lvl6pPr marL="3563188" indent="0">
              <a:buNone/>
              <a:defRPr sz="1400"/>
            </a:lvl6pPr>
            <a:lvl7pPr marL="4275826" indent="0">
              <a:buNone/>
              <a:defRPr sz="1400"/>
            </a:lvl7pPr>
            <a:lvl8pPr marL="4988463" indent="0">
              <a:buNone/>
              <a:defRPr sz="1400"/>
            </a:lvl8pPr>
            <a:lvl9pPr marL="5701101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7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916" y="23045102"/>
            <a:ext cx="26337578" cy="2720607"/>
          </a:xfrm>
        </p:spPr>
        <p:txBody>
          <a:bodyPr anchor="b"/>
          <a:lstStyle>
            <a:lvl1pPr algn="l">
              <a:defRPr sz="31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916" y="2941605"/>
            <a:ext cx="26337578" cy="19752945"/>
          </a:xfrm>
        </p:spPr>
        <p:txBody>
          <a:bodyPr/>
          <a:lstStyle>
            <a:lvl1pPr marL="0" indent="0">
              <a:buNone/>
              <a:defRPr sz="5000"/>
            </a:lvl1pPr>
            <a:lvl2pPr marL="712638" indent="0">
              <a:buNone/>
              <a:defRPr sz="4400"/>
            </a:lvl2pPr>
            <a:lvl3pPr marL="1425275" indent="0">
              <a:buNone/>
              <a:defRPr sz="3700"/>
            </a:lvl3pPr>
            <a:lvl4pPr marL="2137913" indent="0">
              <a:buNone/>
              <a:defRPr sz="3100"/>
            </a:lvl4pPr>
            <a:lvl5pPr marL="2850551" indent="0">
              <a:buNone/>
              <a:defRPr sz="3100"/>
            </a:lvl5pPr>
            <a:lvl6pPr marL="3563188" indent="0">
              <a:buNone/>
              <a:defRPr sz="3100"/>
            </a:lvl6pPr>
            <a:lvl7pPr marL="4275826" indent="0">
              <a:buNone/>
              <a:defRPr sz="3100"/>
            </a:lvl7pPr>
            <a:lvl8pPr marL="4988463" indent="0">
              <a:buNone/>
              <a:defRPr sz="3100"/>
            </a:lvl8pPr>
            <a:lvl9pPr marL="5701101" indent="0">
              <a:buNone/>
              <a:defRPr sz="31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916" y="25765709"/>
            <a:ext cx="26337578" cy="3863708"/>
          </a:xfrm>
        </p:spPr>
        <p:txBody>
          <a:bodyPr/>
          <a:lstStyle>
            <a:lvl1pPr marL="0" indent="0">
              <a:buNone/>
              <a:defRPr sz="2200"/>
            </a:lvl1pPr>
            <a:lvl2pPr marL="712638" indent="0">
              <a:buNone/>
              <a:defRPr sz="1900"/>
            </a:lvl2pPr>
            <a:lvl3pPr marL="1425275" indent="0">
              <a:buNone/>
              <a:defRPr sz="1600"/>
            </a:lvl3pPr>
            <a:lvl4pPr marL="2137913" indent="0">
              <a:buNone/>
              <a:defRPr sz="1400"/>
            </a:lvl4pPr>
            <a:lvl5pPr marL="2850551" indent="0">
              <a:buNone/>
              <a:defRPr sz="1400"/>
            </a:lvl5pPr>
            <a:lvl6pPr marL="3563188" indent="0">
              <a:buNone/>
              <a:defRPr sz="1400"/>
            </a:lvl6pPr>
            <a:lvl7pPr marL="4275826" indent="0">
              <a:buNone/>
              <a:defRPr sz="1400"/>
            </a:lvl7pPr>
            <a:lvl8pPr marL="4988463" indent="0">
              <a:buNone/>
              <a:defRPr sz="1400"/>
            </a:lvl8pPr>
            <a:lvl9pPr marL="5701101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2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8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4574" y="1318398"/>
            <a:ext cx="9876592" cy="280900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798" y="1318398"/>
            <a:ext cx="28898176" cy="280900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99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799" y="1318390"/>
            <a:ext cx="39506367" cy="5486929"/>
          </a:xfrm>
          <a:prstGeom prst="rect">
            <a:avLst/>
          </a:prstGeom>
        </p:spPr>
        <p:txBody>
          <a:bodyPr vert="horz" lIns="142528" tIns="71264" rIns="142528" bIns="7126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799" y="7681701"/>
            <a:ext cx="39506367" cy="21726719"/>
          </a:xfrm>
          <a:prstGeom prst="rect">
            <a:avLst/>
          </a:prstGeom>
        </p:spPr>
        <p:txBody>
          <a:bodyPr vert="horz" lIns="142528" tIns="71264" rIns="142528" bIns="7126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798" y="30513435"/>
            <a:ext cx="10242392" cy="1752770"/>
          </a:xfrm>
          <a:prstGeom prst="rect">
            <a:avLst/>
          </a:prstGeom>
        </p:spPr>
        <p:txBody>
          <a:bodyPr vert="horz" lIns="142528" tIns="71264" rIns="142528" bIns="71264" rtlCol="0" anchor="ctr"/>
          <a:lstStyle>
            <a:lvl1pPr algn="l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E40A3-8253-4860-8B34-0ED81B17890F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7788" y="30513435"/>
            <a:ext cx="13900388" cy="1752770"/>
          </a:xfrm>
          <a:prstGeom prst="rect">
            <a:avLst/>
          </a:prstGeom>
        </p:spPr>
        <p:txBody>
          <a:bodyPr vert="horz" lIns="142528" tIns="71264" rIns="142528" bIns="71264" rtlCol="0" anchor="ctr"/>
          <a:lstStyle>
            <a:lvl1pPr algn="ct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8774" y="30513435"/>
            <a:ext cx="10242392" cy="1752770"/>
          </a:xfrm>
          <a:prstGeom prst="rect">
            <a:avLst/>
          </a:prstGeom>
        </p:spPr>
        <p:txBody>
          <a:bodyPr vert="horz" lIns="142528" tIns="71264" rIns="142528" bIns="71264" rtlCol="0" anchor="ctr"/>
          <a:lstStyle>
            <a:lvl1pPr algn="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B7832-2686-45F0-8BEF-3F30BD360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5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25275" rtl="0" eaLnBrk="1" latinLnBrk="0" hangingPunct="1">
        <a:spcBef>
          <a:spcPct val="0"/>
        </a:spcBef>
        <a:buNone/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478" indent="-534478" algn="l" defTabSz="1425275" rtl="0" eaLnBrk="1" latinLnBrk="0" hangingPunct="1">
        <a:spcBef>
          <a:spcPct val="20000"/>
        </a:spcBef>
        <a:buFont typeface="Arial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58036" indent="-445399" algn="l" defTabSz="1425275" rtl="0" eaLnBrk="1" latinLnBrk="0" hangingPunct="1">
        <a:spcBef>
          <a:spcPct val="20000"/>
        </a:spcBef>
        <a:buFont typeface="Arial" pitchFamily="34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781594" indent="-356319" algn="l" defTabSz="1425275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3pPr>
      <a:lvl4pPr marL="2494232" indent="-356319" algn="l" defTabSz="1425275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206869" indent="-356319" algn="l" defTabSz="1425275" rtl="0" eaLnBrk="1" latinLnBrk="0" hangingPunct="1">
        <a:spcBef>
          <a:spcPct val="20000"/>
        </a:spcBef>
        <a:buFont typeface="Arial" pitchFamily="34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19507" indent="-356319" algn="l" defTabSz="1425275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32145" indent="-356319" algn="l" defTabSz="1425275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344782" indent="-356319" algn="l" defTabSz="1425275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057420" indent="-356319" algn="l" defTabSz="1425275" rtl="0" eaLnBrk="1" latinLnBrk="0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12638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25275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37913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50551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63188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275826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988463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01101" algn="l" defTabSz="1425275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54" y="100476"/>
            <a:ext cx="43895962" cy="3470879"/>
          </a:xfrm>
        </p:spPr>
        <p:txBody>
          <a:bodyPr>
            <a:normAutofit/>
          </a:bodyPr>
          <a:lstStyle/>
          <a:p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Comparative </a:t>
            </a:r>
            <a:r>
              <a:rPr lang="en-IN" sz="5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Transcriptomic</a:t>
            </a:r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Analysis of Skeletal Muscle Aging in Mice</a:t>
            </a:r>
            <a:b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 Multi-Muscle RNA-</a:t>
            </a:r>
            <a:r>
              <a:rPr lang="en-IN" sz="5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Case Study Using DESeq2, Biomarker Discovery and Functional Enrichment Analysis</a:t>
            </a:r>
            <a:b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5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Akshat</a:t>
            </a:r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5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Jaiswal</a:t>
            </a:r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5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Indian Institute of Technology </a:t>
            </a:r>
            <a:r>
              <a:rPr lang="en-IN" sz="5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Ropar</a:t>
            </a:r>
            <a:endParaRPr lang="en-IN" sz="5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56" y="3537090"/>
            <a:ext cx="1516227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BACKGROUND</a:t>
            </a:r>
            <a:endParaRPr lang="en-US" sz="15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600" dirty="0" err="1" smtClean="0">
                <a:latin typeface="Arial" pitchFamily="34" charset="0"/>
                <a:cs typeface="Arial" pitchFamily="34" charset="0"/>
              </a:rPr>
              <a:t>Sarcopenia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is an age-associated decline in skeletal muscle mass and function. Different muscle types exhibit distinct susceptibility to aging; however, the molecular basis of these differences remains incompletely understood.</a:t>
            </a:r>
          </a:p>
          <a:p>
            <a:r>
              <a:rPr lang="en-US" sz="2600" dirty="0" smtClean="0">
                <a:latin typeface="Arial" pitchFamily="34" charset="0"/>
                <a:cs typeface="Arial" pitchFamily="34" charset="0"/>
              </a:rPr>
              <a:t>This study compares </a:t>
            </a:r>
            <a:r>
              <a:rPr lang="en-US" sz="2600" dirty="0" err="1" smtClean="0">
                <a:latin typeface="Arial" pitchFamily="34" charset="0"/>
                <a:cs typeface="Arial" pitchFamily="34" charset="0"/>
              </a:rPr>
              <a:t>transcriptomic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changes across three skeletal muscle types to identify aging-associated genes and pathways.</a:t>
            </a:r>
          </a:p>
          <a:p>
            <a:pPr algn="ctr"/>
            <a:endParaRPr lang="en-IN" sz="5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242" y="6932493"/>
            <a:ext cx="4899098" cy="664797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DATASET</a:t>
            </a:r>
          </a:p>
          <a:p>
            <a:endParaRPr lang="en-IN" sz="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GEO Accession: GSE287832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Organism: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Mus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musculus</a:t>
            </a:r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Samples: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18 RNA-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seq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 samples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Muscles: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• EDL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• Soleus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• TA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Conditions: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• Young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• Old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Replicates:</a:t>
            </a:r>
            <a:br>
              <a:rPr lang="en-IN" sz="2600" dirty="0" smtClean="0">
                <a:latin typeface="Arial" pitchFamily="34" charset="0"/>
                <a:cs typeface="Arial" pitchFamily="34" charset="0"/>
              </a:rPr>
            </a:br>
            <a:r>
              <a:rPr lang="en-IN" sz="2600" dirty="0" smtClean="0">
                <a:latin typeface="Arial" pitchFamily="34" charset="0"/>
                <a:cs typeface="Arial" pitchFamily="34" charset="0"/>
              </a:rPr>
              <a:t>3 biological replicates per group</a:t>
            </a:r>
          </a:p>
          <a:p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3817059"/>
            <a:ext cx="3674404" cy="529375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RNA-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seq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 Data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    ↓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Quality Control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    ↓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DESeq2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    ↓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Differential Expression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    ↓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Biomarker Discovery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    ↓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GO Enrichment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    ↓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Biological Interpretation</a:t>
            </a: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8" b="21450"/>
          <a:stretch/>
        </p:blipFill>
        <p:spPr>
          <a:xfrm>
            <a:off x="5242125" y="6955731"/>
            <a:ext cx="9708587" cy="561662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197810" y="12698368"/>
            <a:ext cx="9433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Samples cluster according to muscle type and age, indicating robust biological separation.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810" y="14016883"/>
            <a:ext cx="7628480" cy="762848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15487" y="21180265"/>
            <a:ext cx="50601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Biological replicates exhibit strong within-group similarity and no major outliers.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119" y="21825406"/>
            <a:ext cx="5796621" cy="5796621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76343" y="25310150"/>
            <a:ext cx="5431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EDL exhibited the strongest aging-associated transcriptional response.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1317" y="4723458"/>
            <a:ext cx="9865096" cy="80714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899309" y="12695704"/>
            <a:ext cx="10789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Aging induces extensive transcriptional remodeling in EDL muscle.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"/>
          <a:stretch/>
        </p:blipFill>
        <p:spPr bwMode="auto">
          <a:xfrm>
            <a:off x="29893258" y="15971222"/>
            <a:ext cx="12296677" cy="102512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4845" y="4723457"/>
            <a:ext cx="11809312" cy="94403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"/>
          <a:stretch/>
        </p:blipFill>
        <p:spPr bwMode="auto">
          <a:xfrm>
            <a:off x="16259350" y="14572580"/>
            <a:ext cx="10081120" cy="126069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6037397" y="27261987"/>
            <a:ext cx="10591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Top biomarkers clearly distinguish young and aged EDL samples.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724844" y="14444563"/>
            <a:ext cx="13825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Functional enrichment reveals aging-associated pathways related to muscle development, growth regulation and cellular remodeling.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724844" y="26595912"/>
            <a:ext cx="124650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Pathway network analysis highlights interconnected biological processes altered during aging.</a:t>
            </a: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6342" y="28035329"/>
            <a:ext cx="89459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KEY FINDINGS</a:t>
            </a:r>
          </a:p>
          <a:p>
            <a:endParaRPr lang="en-IN" sz="12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EDL displayed 1129 significant genes.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Soleus displayed only 44 significant genes.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TA displayed 105 significant genes.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EDL showed strong enrichment of growth regulation,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apoptosis and developmental pathways.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Soleus exhibited vascular and extracellular matrix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adaptation pathways.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TA maintained muscle-specific adaptive programs.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• Aging affects skeletal muscles in a muscle-type-specific</a:t>
            </a: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  manner.</a:t>
            </a: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12049" y="28035329"/>
            <a:ext cx="9335532" cy="44935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CONCLUSIONS</a:t>
            </a: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1. Aging responses differ substantially across muscle types.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2. EDL is highly susceptible to 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transcriptomic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remodeling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3. Soleus exhibits relative resilience.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4. TA demonstrates an intermediate phenotype.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5. Distinct biological pathways underlie muscle-specific aging.</a:t>
            </a: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16957" y="3537090"/>
            <a:ext cx="4387900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01474" y="6414801"/>
            <a:ext cx="2495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PCA Analysis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394" y="20573642"/>
            <a:ext cx="4681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Sample Distance </a:t>
            </a:r>
            <a:r>
              <a:rPr lang="en-IN" b="1" dirty="0" err="1" smtClean="0">
                <a:latin typeface="Arial" pitchFamily="34" charset="0"/>
                <a:cs typeface="Arial" pitchFamily="34" charset="0"/>
              </a:rPr>
              <a:t>Heatmap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1565" y="24650535"/>
            <a:ext cx="58368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Differential Expression Summary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899309" y="4046440"/>
            <a:ext cx="3144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EDL Volcano Plot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899309" y="13755273"/>
            <a:ext cx="3705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Top EDL Biomarkers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8336" y="4046440"/>
            <a:ext cx="3629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EDL GO Enrichment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600813" y="15971221"/>
            <a:ext cx="19862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EDL Pathway Network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48" name="Straight Connector 2047"/>
          <p:cNvCxnSpPr/>
          <p:nvPr/>
        </p:nvCxnSpPr>
        <p:spPr>
          <a:xfrm flipH="1">
            <a:off x="15179228" y="3537090"/>
            <a:ext cx="2" cy="24321872"/>
          </a:xfrm>
          <a:prstGeom prst="line">
            <a:avLst/>
          </a:prstGeom>
          <a:ln w="57150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27276573" y="3566134"/>
            <a:ext cx="2" cy="24428532"/>
          </a:xfrm>
          <a:prstGeom prst="line">
            <a:avLst/>
          </a:prstGeom>
          <a:ln w="57150"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-35038" y="27858962"/>
            <a:ext cx="4387900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TextBox 2053"/>
          <p:cNvSpPr txBox="1"/>
          <p:nvPr/>
        </p:nvSpPr>
        <p:spPr>
          <a:xfrm>
            <a:off x="18743625" y="28105949"/>
            <a:ext cx="6012668" cy="3754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SKILLS DEMONSTRATED</a:t>
            </a:r>
          </a:p>
          <a:p>
            <a:endParaRPr lang="en-IN" dirty="0"/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RNA-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seq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 Analysis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Differential Expression (DESeq2)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Biomarker Discovery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Data Visualization</a:t>
            </a:r>
          </a:p>
        </p:txBody>
      </p:sp>
      <p:sp>
        <p:nvSpPr>
          <p:cNvPr id="2055" name="TextBox 2054"/>
          <p:cNvSpPr txBox="1"/>
          <p:nvPr/>
        </p:nvSpPr>
        <p:spPr>
          <a:xfrm>
            <a:off x="25107646" y="28126083"/>
            <a:ext cx="5337279" cy="36933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Functional Enrichment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Scientific Reporting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Biological Interpretation</a:t>
            </a:r>
          </a:p>
          <a:p>
            <a:endParaRPr lang="en-IN" sz="26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600" dirty="0" smtClean="0">
                <a:latin typeface="Arial" pitchFamily="34" charset="0"/>
                <a:cs typeface="Arial" pitchFamily="34" charset="0"/>
              </a:rPr>
              <a:t>✓ Research Communication</a:t>
            </a:r>
          </a:p>
          <a:p>
            <a:endParaRPr lang="en-IN" sz="30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099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333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Comparative Transcriptomic Analysis of Skeletal Muscle Aging in Mice A Multi-Muscle RNA-seq Case Study Using DESeq2, Biomarker Discovery and Functional Enrichment Analysis Akshat Jaiswal Indian Institute of Technology Ropar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uer</dc:creator>
  <cp:lastModifiedBy>uer</cp:lastModifiedBy>
  <cp:revision>14</cp:revision>
  <dcterms:created xsi:type="dcterms:W3CDTF">2026-06-12T10:25:52Z</dcterms:created>
  <dcterms:modified xsi:type="dcterms:W3CDTF">2026-06-13T10:14:03Z</dcterms:modified>
</cp:coreProperties>
</file>